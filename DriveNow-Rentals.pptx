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Space Grotesk Bold"/>
      <p:regular r:id="rId201314"/>
    </p:embeddedFont>
    <p:embeddedFont>
      <p:font typeface="Inter"/>
      <p:regular r:id="rId201315"/>
    </p:embeddedFont>
    <p:embeddedFont>
      <p:font typeface="Inter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8E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image" Target="../media/image-7-15.png"/><Relationship Id="rId16" Type="http://schemas.openxmlformats.org/officeDocument/2006/relationships/image" Target="../media/image-7-16.svg"/><Relationship Id="rId17" Type="http://schemas.openxmlformats.org/officeDocument/2006/relationships/image" Target="../media/image-7-17.png"/><Relationship Id="rId18" Type="http://schemas.openxmlformats.org/officeDocument/2006/relationships/image" Target="../media/image-7-18.sv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1794966"/>
            <a:ext cx="6355993" cy="240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600" b="1" spc="-430" kern="0" dirty="0">
                <a:solidFill>
                  <a:srgbClr val="1618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DriveNow</a:t>
            </a:r>
            <a:endParaRPr lang="en-US" sz="86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8600" b="1" spc="-430" kern="0" dirty="0">
                <a:solidFill>
                  <a:srgbClr val="1618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Rentals</a:t>
            </a:r>
            <a:endParaRPr lang="en-US" sz="8600" dirty="0"/>
          </a:p>
        </p:txBody>
      </p:sp>
      <p:sp>
        <p:nvSpPr>
          <p:cNvPr id="4" name="Text 1"/>
          <p:cNvSpPr/>
          <p:nvPr/>
        </p:nvSpPr>
        <p:spPr>
          <a:xfrm>
            <a:off x="631908" y="4469805"/>
            <a:ext cx="6965577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-57" kern="0" dirty="0">
                <a:solidFill>
                  <a:srgbClr val="5F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Car Rental System Website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31908" y="4889599"/>
            <a:ext cx="6965577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-57" kern="0" dirty="0">
                <a:solidFill>
                  <a:srgbClr val="5F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with HTML, CSS &amp; JavaScript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22568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3074591"/>
            <a:ext cx="10927878" cy="600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300" b="1" spc="-215" kern="0" dirty="0">
                <a:solidFill>
                  <a:srgbClr val="1618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Introduction</a:t>
            </a:r>
            <a:endParaRPr lang="en-US" sz="43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908" y="3946327"/>
            <a:ext cx="5373652" cy="2093813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83354" y="4107061"/>
            <a:ext cx="270761" cy="27076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837782" y="4693841"/>
            <a:ext cx="4961905" cy="360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550" b="1" spc="-129" kern="0" dirty="0">
                <a:solidFill>
                  <a:srgbClr val="5F646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DriveNow Rentals</a:t>
            </a:r>
            <a:endParaRPr lang="en-US" sz="2550" dirty="0"/>
          </a:p>
        </p:txBody>
      </p:sp>
      <p:sp>
        <p:nvSpPr>
          <p:cNvPr id="7" name="Text 2"/>
          <p:cNvSpPr/>
          <p:nvPr/>
        </p:nvSpPr>
        <p:spPr>
          <a:xfrm>
            <a:off x="837782" y="5162649"/>
            <a:ext cx="4961905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-57" kern="0" dirty="0">
                <a:solidFill>
                  <a:srgbClr val="5F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 Rental System Website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837782" y="5487591"/>
            <a:ext cx="4961905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-57" kern="0" dirty="0">
                <a:solidFill>
                  <a:srgbClr val="5F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Designed to simplify car rental booking through a clean and user‑friendly web interface</a:t>
            </a:r>
            <a:endParaRPr lang="en-US" sz="11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86035" y="3946327"/>
            <a:ext cx="5373752" cy="2093813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37481" y="4107061"/>
            <a:ext cx="270761" cy="270768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6391909" y="4693841"/>
            <a:ext cx="4962004" cy="300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150" b="1" spc="-108" kern="0" dirty="0">
                <a:solidFill>
                  <a:srgbClr val="5F646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What It Does</a:t>
            </a:r>
            <a:endParaRPr lang="en-US" sz="2150" dirty="0"/>
          </a:p>
        </p:txBody>
      </p:sp>
      <p:sp>
        <p:nvSpPr>
          <p:cNvPr id="12" name="Text 5"/>
          <p:cNvSpPr/>
          <p:nvPr/>
        </p:nvSpPr>
        <p:spPr>
          <a:xfrm>
            <a:off x="6391909" y="5102622"/>
            <a:ext cx="4962004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-57" kern="0" dirty="0">
                <a:solidFill>
                  <a:srgbClr val="5F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Allows users to browse cars, select models, book rental dates, and simulate payment — all in a smooth, step‑by‑step flow.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48" y="0"/>
            <a:ext cx="6095848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1908" y="785713"/>
            <a:ext cx="1352516" cy="274241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7D849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40153" y="839788"/>
            <a:ext cx="1745611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spc="-57" kern="0" dirty="0">
                <a:solidFill>
                  <a:srgbClr val="7D84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31908" y="1132086"/>
            <a:ext cx="4832031" cy="1201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300" b="1" spc="-215" kern="0" dirty="0">
                <a:solidFill>
                  <a:srgbClr val="1618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Problem &amp; Objectives</a:t>
            </a:r>
            <a:endParaRPr lang="en-US" sz="4300" dirty="0"/>
          </a:p>
        </p:txBody>
      </p:sp>
      <p:sp>
        <p:nvSpPr>
          <p:cNvPr id="6" name="Text 3"/>
          <p:cNvSpPr/>
          <p:nvPr/>
        </p:nvSpPr>
        <p:spPr>
          <a:xfrm>
            <a:off x="631908" y="2836069"/>
            <a:ext cx="4832031" cy="360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550" b="1" spc="-129" kern="0" dirty="0">
                <a:solidFill>
                  <a:srgbClr val="5F646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Problem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631908" y="3304877"/>
            <a:ext cx="4832031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-57" kern="0" dirty="0">
                <a:solidFill>
                  <a:srgbClr val="5F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car rental booking is time‑consuming and inconvenient. Many systems lack easy online access and a smooth user experience.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31908" y="4547295"/>
            <a:ext cx="4832031" cy="360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550" b="1" spc="-129" kern="0" dirty="0">
                <a:solidFill>
                  <a:srgbClr val="5F646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Objectives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631908" y="5016103"/>
            <a:ext cx="4832031" cy="1056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00000"/>
              </a:lnSpc>
              <a:buSzPct val="100000"/>
              <a:buChar char="•"/>
            </a:pPr>
            <a:r>
              <a:rPr lang="en-US" sz="1400" spc="-57" kern="0" dirty="0">
                <a:solidFill>
                  <a:srgbClr val="5F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 responsive and attractive interface</a:t>
            </a:r>
            <a:endParaRPr lang="en-US" sz="1400" dirty="0"/>
          </a:p>
          <a:p>
            <a:pPr algn="l" marL="284480" indent="-284480">
              <a:lnSpc>
                <a:spcPct val="100000"/>
              </a:lnSpc>
              <a:buSzPct val="100000"/>
              <a:buChar char="•"/>
            </a:pPr>
            <a:r>
              <a:rPr lang="en-US" sz="1400" spc="-57" kern="0" dirty="0">
                <a:solidFill>
                  <a:srgbClr val="5F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 users to select cars by category and model</a:t>
            </a:r>
            <a:endParaRPr lang="en-US" sz="1400" dirty="0"/>
          </a:p>
          <a:p>
            <a:pPr algn="l" marL="284480" indent="-284480">
              <a:lnSpc>
                <a:spcPct val="100000"/>
              </a:lnSpc>
              <a:buSzPct val="100000"/>
              <a:buChar char="•"/>
            </a:pPr>
            <a:r>
              <a:rPr lang="en-US" sz="1400" spc="-57" kern="0" dirty="0">
                <a:solidFill>
                  <a:srgbClr val="5F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 booking with date selection</a:t>
            </a:r>
            <a:endParaRPr lang="en-US" sz="1400" dirty="0"/>
          </a:p>
          <a:p>
            <a:pPr algn="l" marL="284480" indent="-284480">
              <a:lnSpc>
                <a:spcPct val="100000"/>
              </a:lnSpc>
              <a:buSzPct val="100000"/>
              <a:buChar char="•"/>
            </a:pPr>
            <a:r>
              <a:rPr lang="en-US" sz="1400" spc="-57" kern="0" dirty="0">
                <a:solidFill>
                  <a:srgbClr val="5F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Simulate a complete payment process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06509" y="2604790"/>
            <a:ext cx="4882829" cy="50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606509" y="4316016"/>
            <a:ext cx="4882829" cy="50800"/>
          </a:xfrm>
          <a:prstGeom prst="rect">
            <a:avLst/>
          </a:prstGeom>
          <a:solidFill>
            <a:srgbClr val="5F646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20312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3041452"/>
            <a:ext cx="4586173" cy="540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850" b="1" spc="-194" kern="0" dirty="0">
                <a:solidFill>
                  <a:srgbClr val="1618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System Architecture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31908" y="3640733"/>
            <a:ext cx="4586173" cy="270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900" b="1" spc="-97" kern="0" dirty="0">
                <a:solidFill>
                  <a:srgbClr val="1618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Tech Stack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1908" y="4057253"/>
            <a:ext cx="4586173" cy="687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spcAft>
                <a:spcPts val="1000"/>
              </a:spcAft>
              <a:buNone/>
            </a:pPr>
            <a:r>
              <a:rPr lang="en-US" sz="1250" spc="-51" kern="0" dirty="0">
                <a:solidFill>
                  <a:srgbClr val="5F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client‑side web application built for simplicity and scalability, ready for full‑stack integration.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31908" y="4909046"/>
            <a:ext cx="4586173" cy="492423"/>
          </a:xfrm>
          <a:prstGeom prst="roundRect">
            <a:avLst>
              <a:gd name="adj" fmla="val 4950"/>
            </a:avLst>
          </a:prstGeom>
          <a:solidFill>
            <a:srgbClr val="E3E5E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325" y="5088037"/>
            <a:ext cx="162417" cy="12997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19160" y="5081191"/>
            <a:ext cx="4546089" cy="14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i="1" spc="-51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"Built client‑side today, scalable to full‑stack tomorrow."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631908" y="5565973"/>
            <a:ext cx="4586173" cy="296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spc="-51" kern="0" dirty="0">
                <a:solidFill>
                  <a:srgbClr val="5F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current flow runs entirely in the browser, but the architecture is designed for seamless backend integration.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8151" y="3059807"/>
            <a:ext cx="5350535" cy="244871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837445" y="3371236"/>
            <a:ext cx="1304589" cy="157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00" b="1" spc="-56" kern="0" dirty="0">
                <a:solidFill>
                  <a:srgbClr val="5F646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Database (Future)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9837445" y="3570891"/>
            <a:ext cx="1304589" cy="224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00" spc="-42" kern="0" dirty="0">
                <a:solidFill>
                  <a:srgbClr val="5F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 storage: MySQL or MongoDB</a:t>
            </a:r>
            <a:endParaRPr lang="en-US" sz="700" dirty="0"/>
          </a:p>
        </p:txBody>
      </p:sp>
      <p:sp>
        <p:nvSpPr>
          <p:cNvPr id="13" name="Text 8"/>
          <p:cNvSpPr/>
          <p:nvPr/>
        </p:nvSpPr>
        <p:spPr>
          <a:xfrm>
            <a:off x="6044670" y="4176103"/>
            <a:ext cx="1199380" cy="157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1100" b="1" spc="-56" kern="0" dirty="0">
                <a:solidFill>
                  <a:srgbClr val="5F646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Backend (Future)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6044670" y="4375758"/>
            <a:ext cx="1199380" cy="224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700" spc="-42" kern="0" dirty="0">
                <a:solidFill>
                  <a:srgbClr val="5F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 layer: Node.js or Django for APIs</a:t>
            </a:r>
            <a:endParaRPr lang="en-US" sz="700" dirty="0"/>
          </a:p>
        </p:txBody>
      </p:sp>
      <p:sp>
        <p:nvSpPr>
          <p:cNvPr id="15" name="Text 10"/>
          <p:cNvSpPr/>
          <p:nvPr/>
        </p:nvSpPr>
        <p:spPr>
          <a:xfrm>
            <a:off x="9837445" y="4591688"/>
            <a:ext cx="1304589" cy="157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00" b="1" spc="-56" kern="0" dirty="0">
                <a:solidFill>
                  <a:srgbClr val="5F646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9837445" y="4791343"/>
            <a:ext cx="1304589" cy="224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00" spc="-42" kern="0" dirty="0">
                <a:solidFill>
                  <a:srgbClr val="5F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HTML, CSS, JavaScript — current client-side app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814314"/>
            <a:ext cx="10927878" cy="600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300" b="1" spc="-215" kern="0" dirty="0">
                <a:solidFill>
                  <a:srgbClr val="1618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Features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631908" y="2911673"/>
            <a:ext cx="10927878" cy="25400"/>
          </a:xfrm>
          <a:prstGeom prst="roundRect">
            <a:avLst>
              <a:gd name="adj" fmla="val 49999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900587" y="2911673"/>
            <a:ext cx="25399" cy="541635"/>
          </a:xfrm>
          <a:prstGeom prst="roundRect">
            <a:avLst>
              <a:gd name="adj" fmla="val 50001"/>
            </a:avLst>
          </a:prstGeom>
          <a:solidFill>
            <a:srgbClr val="E5E5E5"/>
          </a:solidFill>
          <a:ln/>
        </p:spPr>
      </p:sp>
      <p:sp>
        <p:nvSpPr>
          <p:cNvPr id="5" name="Shape 3"/>
          <p:cNvSpPr/>
          <p:nvPr/>
        </p:nvSpPr>
        <p:spPr>
          <a:xfrm>
            <a:off x="1845621" y="2844006"/>
            <a:ext cx="135331" cy="13533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31908" y="3453408"/>
            <a:ext cx="2562756" cy="1463080"/>
          </a:xfrm>
          <a:prstGeom prst="roundRect">
            <a:avLst>
              <a:gd name="adj" fmla="val 1851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12383" y="3633887"/>
            <a:ext cx="2201807" cy="300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2150" b="1" spc="-108" kern="0" dirty="0">
                <a:solidFill>
                  <a:srgbClr val="5F646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Car Categories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812383" y="4042668"/>
            <a:ext cx="2201807" cy="693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spc="-57" kern="0" dirty="0">
                <a:solidFill>
                  <a:srgbClr val="5F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 Sedan, SUV, and Convertible categories with dynamic model selection and images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88961" y="2911673"/>
            <a:ext cx="25399" cy="541635"/>
          </a:xfrm>
          <a:prstGeom prst="roundRect">
            <a:avLst>
              <a:gd name="adj" fmla="val 50001"/>
            </a:avLst>
          </a:prstGeom>
          <a:solidFill>
            <a:srgbClr val="787D84"/>
          </a:solidFill>
          <a:ln/>
        </p:spPr>
      </p:sp>
      <p:sp>
        <p:nvSpPr>
          <p:cNvPr id="10" name="Shape 8"/>
          <p:cNvSpPr/>
          <p:nvPr/>
        </p:nvSpPr>
        <p:spPr>
          <a:xfrm>
            <a:off x="4633995" y="2844006"/>
            <a:ext cx="135331" cy="135334"/>
          </a:xfrm>
          <a:prstGeom prst="ellipse">
            <a:avLst/>
          </a:prstGeom>
          <a:solidFill>
            <a:srgbClr val="5F646B"/>
          </a:solidFill>
          <a:ln/>
        </p:spPr>
      </p:sp>
      <p:sp>
        <p:nvSpPr>
          <p:cNvPr id="11" name="Shape 9"/>
          <p:cNvSpPr/>
          <p:nvPr/>
        </p:nvSpPr>
        <p:spPr>
          <a:xfrm>
            <a:off x="3420282" y="3453408"/>
            <a:ext cx="2562756" cy="1116409"/>
          </a:xfrm>
          <a:prstGeom prst="roundRect">
            <a:avLst>
              <a:gd name="adj" fmla="val 2426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600757" y="3633887"/>
            <a:ext cx="2201807" cy="300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2150" b="1" spc="-108" kern="0" dirty="0">
                <a:solidFill>
                  <a:srgbClr val="5F646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Booking Form</a:t>
            </a:r>
            <a:endParaRPr lang="en-US" sz="2150" dirty="0"/>
          </a:p>
        </p:txBody>
      </p:sp>
      <p:sp>
        <p:nvSpPr>
          <p:cNvPr id="13" name="Text 11"/>
          <p:cNvSpPr/>
          <p:nvPr/>
        </p:nvSpPr>
        <p:spPr>
          <a:xfrm>
            <a:off x="3600757" y="4042668"/>
            <a:ext cx="2201807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spc="-57" kern="0" dirty="0">
                <a:solidFill>
                  <a:srgbClr val="5F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input fields for rental period selection with form validation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77335" y="2911673"/>
            <a:ext cx="25399" cy="541635"/>
          </a:xfrm>
          <a:prstGeom prst="roundRect">
            <a:avLst>
              <a:gd name="adj" fmla="val 50001"/>
            </a:avLst>
          </a:prstGeom>
          <a:solidFill>
            <a:srgbClr val="9A9FA3"/>
          </a:solidFill>
          <a:ln/>
        </p:spPr>
      </p:sp>
      <p:sp>
        <p:nvSpPr>
          <p:cNvPr id="15" name="Shape 13"/>
          <p:cNvSpPr/>
          <p:nvPr/>
        </p:nvSpPr>
        <p:spPr>
          <a:xfrm>
            <a:off x="7422369" y="2844006"/>
            <a:ext cx="135331" cy="135334"/>
          </a:xfrm>
          <a:prstGeom prst="ellipse">
            <a:avLst/>
          </a:prstGeom>
          <a:solidFill>
            <a:srgbClr val="B4B9BD"/>
          </a:solidFill>
          <a:ln/>
        </p:spPr>
      </p:sp>
      <p:sp>
        <p:nvSpPr>
          <p:cNvPr id="16" name="Shape 14"/>
          <p:cNvSpPr/>
          <p:nvPr/>
        </p:nvSpPr>
        <p:spPr>
          <a:xfrm>
            <a:off x="6208656" y="3453408"/>
            <a:ext cx="2562756" cy="1590278"/>
          </a:xfrm>
          <a:prstGeom prst="roundRect">
            <a:avLst>
              <a:gd name="adj" fmla="val 170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389131" y="3633887"/>
            <a:ext cx="2201807" cy="6010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2150" b="1" spc="-108" kern="0" dirty="0">
                <a:solidFill>
                  <a:srgbClr val="5F646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Payment Simulation</a:t>
            </a:r>
            <a:endParaRPr lang="en-US" sz="2150" dirty="0"/>
          </a:p>
        </p:txBody>
      </p:sp>
      <p:sp>
        <p:nvSpPr>
          <p:cNvPr id="18" name="Text 16"/>
          <p:cNvSpPr/>
          <p:nvPr/>
        </p:nvSpPr>
        <p:spPr>
          <a:xfrm>
            <a:off x="6389131" y="4343202"/>
            <a:ext cx="2201807" cy="5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spc="-57" kern="0" dirty="0">
                <a:solidFill>
                  <a:srgbClr val="5F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simulated payment form completing the end‑to‑end rental flow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265709" y="2911673"/>
            <a:ext cx="25399" cy="541635"/>
          </a:xfrm>
          <a:prstGeom prst="roundRect">
            <a:avLst>
              <a:gd name="adj" fmla="val 50001"/>
            </a:avLst>
          </a:prstGeom>
          <a:solidFill>
            <a:srgbClr val="E5E5E5"/>
          </a:solidFill>
          <a:ln/>
        </p:spPr>
      </p:sp>
      <p:sp>
        <p:nvSpPr>
          <p:cNvPr id="20" name="Shape 18"/>
          <p:cNvSpPr/>
          <p:nvPr/>
        </p:nvSpPr>
        <p:spPr>
          <a:xfrm>
            <a:off x="10210743" y="2844006"/>
            <a:ext cx="135331" cy="13533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8997030" y="3453408"/>
            <a:ext cx="2562756" cy="1289745"/>
          </a:xfrm>
          <a:prstGeom prst="roundRect">
            <a:avLst>
              <a:gd name="adj" fmla="val 2100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9177505" y="3633887"/>
            <a:ext cx="2201807" cy="300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2150" b="1" spc="-108" kern="0" dirty="0">
                <a:solidFill>
                  <a:srgbClr val="5F646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Confirmation</a:t>
            </a:r>
            <a:endParaRPr lang="en-US" sz="2150" dirty="0"/>
          </a:p>
        </p:txBody>
      </p:sp>
      <p:sp>
        <p:nvSpPr>
          <p:cNvPr id="23" name="Text 21"/>
          <p:cNvSpPr/>
          <p:nvPr/>
        </p:nvSpPr>
        <p:spPr>
          <a:xfrm>
            <a:off x="9177505" y="4042668"/>
            <a:ext cx="2201807" cy="5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spc="-57" kern="0" dirty="0">
                <a:solidFill>
                  <a:srgbClr val="5F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success confirmation page providing clear feedback on completed bookings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539849"/>
            <a:ext cx="619407" cy="274241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7D84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153" y="593923"/>
            <a:ext cx="1012502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spc="-57" kern="0" dirty="0">
                <a:solidFill>
                  <a:srgbClr val="7D84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31908" y="886222"/>
            <a:ext cx="10927878" cy="600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300" b="1" spc="-215" kern="0" dirty="0">
                <a:solidFill>
                  <a:srgbClr val="1618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Screenshots &amp; Flow</a:t>
            </a:r>
            <a:endParaRPr lang="en-US" sz="4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908" y="1757958"/>
            <a:ext cx="3492214" cy="34923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1908" y="5475883"/>
            <a:ext cx="3492214" cy="300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150" b="1" spc="-108" kern="0" dirty="0">
                <a:solidFill>
                  <a:srgbClr val="5F646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Homepage &amp; Categories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631908" y="5884664"/>
            <a:ext cx="3492214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-57" kern="0" dirty="0">
                <a:solidFill>
                  <a:srgbClr val="5F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Landing page displaying car categories for users to begin their selection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9740" y="1757958"/>
            <a:ext cx="3492214" cy="34923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49740" y="5475883"/>
            <a:ext cx="3492214" cy="300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150" b="1" spc="-108" kern="0" dirty="0">
                <a:solidFill>
                  <a:srgbClr val="5F646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Booking &amp; Payment</a:t>
            </a:r>
            <a:endParaRPr lang="en-US" sz="2150" dirty="0"/>
          </a:p>
        </p:txBody>
      </p:sp>
      <p:sp>
        <p:nvSpPr>
          <p:cNvPr id="10" name="Text 6"/>
          <p:cNvSpPr/>
          <p:nvPr/>
        </p:nvSpPr>
        <p:spPr>
          <a:xfrm>
            <a:off x="4349740" y="5884664"/>
            <a:ext cx="3492214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-57" kern="0" dirty="0">
                <a:solidFill>
                  <a:srgbClr val="5F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selection form and simulated payment form in a guided multi‑step flow</a:t>
            </a:r>
            <a:endParaRPr lang="en-US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7572" y="1757958"/>
            <a:ext cx="3492214" cy="349230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67572" y="5475883"/>
            <a:ext cx="3492214" cy="300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150" b="1" spc="-108" kern="0" dirty="0">
                <a:solidFill>
                  <a:srgbClr val="5F646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Confirmation Screen</a:t>
            </a:r>
            <a:endParaRPr lang="en-US" sz="2150" dirty="0"/>
          </a:p>
        </p:txBody>
      </p:sp>
      <p:sp>
        <p:nvSpPr>
          <p:cNvPr id="13" name="Text 8"/>
          <p:cNvSpPr/>
          <p:nvPr/>
        </p:nvSpPr>
        <p:spPr>
          <a:xfrm>
            <a:off x="8067572" y="5884664"/>
            <a:ext cx="3492214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-57" kern="0" dirty="0">
                <a:solidFill>
                  <a:srgbClr val="5F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success page confirming the completed rental booking to the user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649188"/>
            <a:ext cx="10927878" cy="510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50" b="1" spc="-183" kern="0" dirty="0">
                <a:solidFill>
                  <a:srgbClr val="1618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Advantages &amp; Challenges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31908" y="1486098"/>
            <a:ext cx="4824589" cy="255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b="1" spc="-91" kern="0" dirty="0">
                <a:solidFill>
                  <a:srgbClr val="1618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Advantages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1908" y="2189063"/>
            <a:ext cx="4824589" cy="5577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80544" y="2361505"/>
            <a:ext cx="4403516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500" spc="-48" kern="0" dirty="0">
                <a:solidFill>
                  <a:srgbClr val="5F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Easy to use with a clean, visually appealing design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908" y="2877145"/>
            <a:ext cx="4824589" cy="5577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80544" y="3049588"/>
            <a:ext cx="4403516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500" spc="-48" kern="0" dirty="0">
                <a:solidFill>
                  <a:srgbClr val="5F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Scalable for real‑world full‑stack integration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1908" y="3565227"/>
            <a:ext cx="4824589" cy="77053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80544" y="3737670"/>
            <a:ext cx="4403516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500" spc="-48" kern="0" dirty="0">
                <a:solidFill>
                  <a:srgbClr val="5F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foundation for real payment gateways and user accounts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5837290" y="1486098"/>
            <a:ext cx="5728747" cy="255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b="1" spc="-91" kern="0" dirty="0">
                <a:solidFill>
                  <a:srgbClr val="1618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Challenges Faced</a:t>
            </a:r>
            <a:endParaRPr lang="en-US" sz="18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37290" y="1888331"/>
            <a:ext cx="5728747" cy="1304330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86573" y="2022475"/>
            <a:ext cx="230182" cy="230187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009728" y="2498130"/>
            <a:ext cx="5383872" cy="255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800" b="1" spc="-91" kern="0" dirty="0">
                <a:solidFill>
                  <a:srgbClr val="5F646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Responsive Design</a:t>
            </a:r>
            <a:endParaRPr lang="en-US" sz="1800" dirty="0"/>
          </a:p>
        </p:txBody>
      </p:sp>
      <p:sp>
        <p:nvSpPr>
          <p:cNvPr id="14" name="Text 7"/>
          <p:cNvSpPr/>
          <p:nvPr/>
        </p:nvSpPr>
        <p:spPr>
          <a:xfrm>
            <a:off x="6009728" y="2883991"/>
            <a:ext cx="5383872" cy="136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spc="-48" kern="0" dirty="0">
                <a:solidFill>
                  <a:srgbClr val="5F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Designing adaptive layouts across screen sizes</a:t>
            </a:r>
            <a:endParaRPr lang="en-US" sz="9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37290" y="3323034"/>
            <a:ext cx="5728747" cy="1304330"/>
          </a:xfrm>
          <a:prstGeom prst="rect">
            <a:avLst/>
          </a:prstGeom>
        </p:spPr>
      </p:pic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586573" y="3457178"/>
            <a:ext cx="230182" cy="230187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6009728" y="3932833"/>
            <a:ext cx="5383872" cy="255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800" b="1" spc="-91" kern="0" dirty="0">
                <a:solidFill>
                  <a:srgbClr val="5F646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Form Validation</a:t>
            </a:r>
            <a:endParaRPr lang="en-US" sz="1800" dirty="0"/>
          </a:p>
        </p:txBody>
      </p:sp>
      <p:sp>
        <p:nvSpPr>
          <p:cNvPr id="18" name="Text 9"/>
          <p:cNvSpPr/>
          <p:nvPr/>
        </p:nvSpPr>
        <p:spPr>
          <a:xfrm>
            <a:off x="6009728" y="4318695"/>
            <a:ext cx="5383872" cy="136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spc="-48" kern="0" dirty="0">
                <a:solidFill>
                  <a:srgbClr val="5F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Handling date and payment field validation correctly</a:t>
            </a:r>
            <a:endParaRPr lang="en-US" sz="950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837290" y="4757738"/>
            <a:ext cx="5728747" cy="1304330"/>
          </a:xfrm>
          <a:prstGeom prst="rect">
            <a:avLst/>
          </a:prstGeom>
        </p:spPr>
      </p:pic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586573" y="4891881"/>
            <a:ext cx="230182" cy="230187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6009728" y="5367536"/>
            <a:ext cx="5383872" cy="255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800" b="1" spc="-91" kern="0" dirty="0">
                <a:solidFill>
                  <a:srgbClr val="5F646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Multi‑Step Flow</a:t>
            </a:r>
            <a:endParaRPr lang="en-US" sz="1800" dirty="0"/>
          </a:p>
        </p:txBody>
      </p:sp>
      <p:sp>
        <p:nvSpPr>
          <p:cNvPr id="22" name="Text 11"/>
          <p:cNvSpPr/>
          <p:nvPr/>
        </p:nvSpPr>
        <p:spPr>
          <a:xfrm>
            <a:off x="6009728" y="5753398"/>
            <a:ext cx="5383872" cy="136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spc="-48" kern="0" dirty="0">
                <a:solidFill>
                  <a:srgbClr val="5F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Structuring multi‑step booking logic in JavaScript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304680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3694609"/>
            <a:ext cx="4699478" cy="1081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850" b="1" spc="-194" kern="0" dirty="0">
                <a:solidFill>
                  <a:srgbClr val="1618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Future Enhancements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31908" y="4922441"/>
            <a:ext cx="4699478" cy="370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spc="-51" kern="0" dirty="0">
                <a:solidFill>
                  <a:srgbClr val="5F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DriveNow Rentals is built to grow. Planned upgrades will transform this prototype into a production‑ready full‑stack platform.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5734204" y="3712964"/>
            <a:ext cx="5831833" cy="510084"/>
          </a:xfrm>
          <a:prstGeom prst="roundRect">
            <a:avLst>
              <a:gd name="adj" fmla="val 4778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5896621" y="3875385"/>
            <a:ext cx="5506999" cy="185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spc="-51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payment gateway integration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734204" y="4369197"/>
            <a:ext cx="5831833" cy="510084"/>
          </a:xfrm>
          <a:prstGeom prst="roundRect">
            <a:avLst>
              <a:gd name="adj" fmla="val 4778"/>
            </a:avLst>
          </a:prstGeom>
          <a:solidFill>
            <a:srgbClr val="5F646B"/>
          </a:solidFill>
          <a:ln/>
        </p:spPr>
      </p:sp>
      <p:sp>
        <p:nvSpPr>
          <p:cNvPr id="8" name="Text 5"/>
          <p:cNvSpPr/>
          <p:nvPr/>
        </p:nvSpPr>
        <p:spPr>
          <a:xfrm>
            <a:off x="5896621" y="4531618"/>
            <a:ext cx="5506999" cy="185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spc="-5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login &amp; profile management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734204" y="5025430"/>
            <a:ext cx="5831833" cy="510084"/>
          </a:xfrm>
          <a:prstGeom prst="roundRect">
            <a:avLst>
              <a:gd name="adj" fmla="val 4778"/>
            </a:avLst>
          </a:prstGeom>
          <a:solidFill>
            <a:srgbClr val="B4B9BD"/>
          </a:solidFill>
          <a:ln/>
        </p:spPr>
      </p:sp>
      <p:sp>
        <p:nvSpPr>
          <p:cNvPr id="10" name="Text 7"/>
          <p:cNvSpPr/>
          <p:nvPr/>
        </p:nvSpPr>
        <p:spPr>
          <a:xfrm>
            <a:off x="5896621" y="5187851"/>
            <a:ext cx="5506999" cy="185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spc="-51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dashboard for managing cars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734204" y="5681663"/>
            <a:ext cx="5831833" cy="510084"/>
          </a:xfrm>
          <a:prstGeom prst="roundRect">
            <a:avLst>
              <a:gd name="adj" fmla="val 4778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5896621" y="5844084"/>
            <a:ext cx="5506999" cy="185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spc="-51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hosting &amp; deployment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1908" y="1787327"/>
            <a:ext cx="1114000" cy="274241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7D849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40153" y="1841401"/>
            <a:ext cx="150709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spc="-57" kern="0" dirty="0">
                <a:solidFill>
                  <a:srgbClr val="7D84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31908" y="2133699"/>
            <a:ext cx="6355993" cy="600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300" b="1" spc="-215" kern="0" dirty="0">
                <a:solidFill>
                  <a:srgbClr val="1618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Wrapping Up</a:t>
            </a:r>
            <a:endParaRPr lang="en-US" sz="4300" dirty="0"/>
          </a:p>
        </p:txBody>
      </p:sp>
      <p:sp>
        <p:nvSpPr>
          <p:cNvPr id="6" name="Text 3"/>
          <p:cNvSpPr/>
          <p:nvPr/>
        </p:nvSpPr>
        <p:spPr>
          <a:xfrm>
            <a:off x="631908" y="3236714"/>
            <a:ext cx="3065187" cy="360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550" b="1" spc="-129" kern="0" dirty="0">
                <a:solidFill>
                  <a:srgbClr val="5F646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What Was Built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631908" y="3705523"/>
            <a:ext cx="3065187" cy="1083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-57" kern="0" dirty="0">
                <a:solidFill>
                  <a:srgbClr val="5F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DriveNow Rentals is a functional prototype demonstrating core web development skills — responsive design, dynamic content, and multi‑step user flows.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922714" y="3236714"/>
            <a:ext cx="3065187" cy="360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550" b="1" spc="-129" kern="0" dirty="0">
                <a:solidFill>
                  <a:srgbClr val="5F646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What It Shows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3922714" y="3705523"/>
            <a:ext cx="3065187" cy="1083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-57" kern="0" dirty="0">
                <a:solidFill>
                  <a:srgbClr val="5F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smooth booking flow built entirely with HTML, CSS, and JavaScript, ready to be expanded into a full‑stack project with a real backend and database.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922714" y="4897239"/>
            <a:ext cx="3065187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-57" kern="0" dirty="0">
                <a:solidFill>
                  <a:srgbClr val="5F64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 Stack:</a:t>
            </a:r>
            <a:pPr algn="l" indent="0" marL="0">
              <a:lnSpc>
                <a:spcPct val="100000"/>
              </a:lnSpc>
              <a:buNone/>
            </a:pPr>
            <a:r>
              <a:rPr lang="en-US" sz="1100" spc="-57" kern="0" dirty="0">
                <a:solidFill>
                  <a:srgbClr val="5F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HTML · CSS · JavaScript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6509" y="3005435"/>
            <a:ext cx="3115986" cy="50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3897314" y="3005435"/>
            <a:ext cx="3115986" cy="50800"/>
          </a:xfrm>
          <a:prstGeom prst="rect">
            <a:avLst/>
          </a:prstGeom>
          <a:solidFill>
            <a:srgbClr val="5F646B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22568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3478312"/>
            <a:ext cx="5243679" cy="600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300" b="1" spc="-215" kern="0" dirty="0">
                <a:solidFill>
                  <a:srgbClr val="1618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Thank You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31908" y="4259759"/>
            <a:ext cx="5243679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-57" kern="0" dirty="0">
                <a:solidFill>
                  <a:srgbClr val="5F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I'd be happy to answer any questions about DriveNow Rentals — the design decisions, the code, or the roadmap ahead.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322457" y="3500934"/>
            <a:ext cx="5243679" cy="584002"/>
          </a:xfrm>
          <a:prstGeom prst="roundRect">
            <a:avLst>
              <a:gd name="adj" fmla="val 4637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502932" y="3681413"/>
            <a:ext cx="4882730" cy="223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-57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🚗</a:t>
            </a:r>
            <a:pPr algn="l" indent="0" marL="0">
              <a:lnSpc>
                <a:spcPct val="100000"/>
              </a:lnSpc>
              <a:buNone/>
            </a:pPr>
            <a:r>
              <a:rPr lang="en-US" sz="1400" spc="-57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DriveNow Rentals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322457" y="4265414"/>
            <a:ext cx="5243679" cy="584002"/>
          </a:xfrm>
          <a:prstGeom prst="roundRect">
            <a:avLst>
              <a:gd name="adj" fmla="val 4637"/>
            </a:avLst>
          </a:prstGeom>
          <a:solidFill>
            <a:srgbClr val="5F646B"/>
          </a:solidFill>
          <a:ln/>
        </p:spPr>
      </p:sp>
      <p:sp>
        <p:nvSpPr>
          <p:cNvPr id="8" name="Text 5"/>
          <p:cNvSpPr/>
          <p:nvPr/>
        </p:nvSpPr>
        <p:spPr>
          <a:xfrm>
            <a:off x="6502932" y="4445893"/>
            <a:ext cx="4882730" cy="223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-57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💻</a:t>
            </a:r>
            <a:pPr algn="l" indent="0" marL="0">
              <a:lnSpc>
                <a:spcPct val="100000"/>
              </a:lnSpc>
              <a:buNone/>
            </a:pPr>
            <a:r>
              <a:rPr lang="en-US" sz="1400" spc="-57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HTML · CSS · JavaScript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22457" y="5029895"/>
            <a:ext cx="5243679" cy="584002"/>
          </a:xfrm>
          <a:prstGeom prst="roundRect">
            <a:avLst>
              <a:gd name="adj" fmla="val 4637"/>
            </a:avLst>
          </a:prstGeom>
          <a:solidFill>
            <a:srgbClr val="B4B9BD"/>
          </a:solidFill>
          <a:ln/>
        </p:spPr>
      </p:sp>
      <p:sp>
        <p:nvSpPr>
          <p:cNvPr id="10" name="Text 7"/>
          <p:cNvSpPr/>
          <p:nvPr/>
        </p:nvSpPr>
        <p:spPr>
          <a:xfrm>
            <a:off x="6502932" y="5210373"/>
            <a:ext cx="4882730" cy="223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-57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❓</a:t>
            </a:r>
            <a:pPr algn="l" indent="0" marL="0">
              <a:lnSpc>
                <a:spcPct val="100000"/>
              </a:lnSpc>
              <a:buNone/>
            </a:pPr>
            <a:r>
              <a:rPr lang="en-US" sz="1400" spc="-57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Questions Welcome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2026-09-11T11:02:54Z</dcterms:created>
  <dcterms:modified xsi:type="dcterms:W3CDTF">2026-09-11T11:02:54Z</dcterms:modified>
</cp:coreProperties>
</file>